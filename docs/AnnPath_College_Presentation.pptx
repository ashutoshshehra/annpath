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30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DAF48-6650-2A37-B20D-5B6511DD9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A2A6C-40B7-F80C-D572-F2E434310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36D3B-C57E-E8F9-BA8A-2AF3C64A9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EE0E8-1759-8301-7090-2DC6CFE9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A7E72-4036-73FA-52EE-6592AE7DB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1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9184-1A70-AAAF-EA8C-ACC27555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DFA30-052C-724D-7B87-F9C7A5FB0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26118-23EC-564B-402C-FD897574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099CA-F3CC-9561-3412-1761327B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7825B-ACBF-F9EF-AC0B-BCA3A0C6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4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B5B4-27C6-A831-AED8-205AF1D71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72FFD-5AD7-DB1E-1238-B475F0252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2696D-BB9D-1C87-75BE-472800B2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5CCE4-CB32-B689-BCD3-1B322C3FA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5DDF2-B97A-9DEE-B62D-F30E2D48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82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E4F4-1755-98F0-7252-40CBB957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5FD31-EF7F-3515-AB26-7BE0B8DC4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3D5BB-6D69-475D-94B3-3D496FE0F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E5D70-D250-0F55-BD8E-5AA40CA7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4BE30-664D-C27F-3A1A-7151AE33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ADEE2-FC2A-AEDA-4D45-A95953D8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371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E450-244C-F558-821A-69328884B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C158C-4BB6-0C05-6ED4-51E06617C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8D831-3811-0F04-C9BB-A25BB7801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C30D7-92FF-16AE-F1C9-6239E5E86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BC077-D769-5FA4-FACE-FC0F249B7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9F144-309E-C0DB-6FD1-BCD2A4F4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8BA69-1AF7-DAA1-7E93-CE95B6E4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397AD-DA1B-9751-3AD6-D6EF4F3E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48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7B5E-DF6D-C425-71E7-8B2C3F9C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6B15F-D4C1-587B-3861-827CFBB5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7B240-8DC4-D848-CEE1-81F0E6EE4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41111-FAE0-185E-2B3D-91910583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74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34178-2448-B59E-0005-311968A2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4F9F3-A2D8-7086-AB72-5C134273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A6A54-9C2D-09F1-0E00-E38F31E5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64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F906-DF81-67D1-02B2-A7EB2507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2A8B-CC3B-39BB-B92F-FE4CC7C42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5C3C3-4E08-1731-C01E-BD4C4E8C8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7D574-DF8D-FC14-8FE5-1D5EB886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C05C8-9118-CB09-050A-77D12693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5BEE2-3356-DD1E-0278-7BB559CE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6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9B16-C02D-106B-86C4-27E63A5E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DAF9EB-C0C3-952A-5C15-42C772998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8D043-E18A-F1B2-0519-9C4231389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AC308-C272-7C1E-C4E5-4BC29AB34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5C915-3CB5-EB7B-5260-E1964F92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3E6CE-2E98-54DF-178A-359C5418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41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4070-C7DB-2F08-A522-96AF0D93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4C1C8-CA17-50CF-27A2-DE3844D65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4E83-D449-2AEB-4947-0BC52D49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26418-5EA3-C0AF-64E9-E62E5E9E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680E3-149B-CCB2-43DC-C6BB75A0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8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67AA77-4899-9084-25CC-0F78EC119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47A60-4C11-D3A1-2AB4-DE99BDD08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EB83-0661-9E99-77C1-1F627DFC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D92D5-53AD-7F45-4290-69BE6292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837F8-3864-07D2-2B71-3305583D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726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2A851-A52E-7F70-4033-2F1C23AC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776A2-854B-55CA-93C5-B42F0D810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702E5-DCEE-0CC3-08FD-B2A68FEDE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C7166-200D-48CC-A3A8-023685A1842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A04D2-D5F0-7380-AC9D-BC7BA0471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01487-DB01-778E-9FE4-BA2A2BAF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645C9-1E70-4976-AC10-7C764A5AF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06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81471-9EE6-9F15-EAAE-7657632032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AB9C48-7746-3690-A893-927679847F92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12EAF-8C39-1AC0-3692-E624B870F39E}"/>
              </a:ext>
            </a:extLst>
          </p:cNvPr>
          <p:cNvSpPr txBox="1"/>
          <p:nvPr/>
        </p:nvSpPr>
        <p:spPr>
          <a:xfrm>
            <a:off x="889000" y="1079500"/>
            <a:ext cx="1016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28C28"/>
                </a:solidFill>
                <a:latin typeface="Segoe UI" panose="020B0502040204020203" pitchFamily="34" charset="0"/>
              </a:rPr>
              <a:t>MAJOR PROJECT PRESENTATION | COMPUTER SCIENCE AND ENGINEERING</a:t>
            </a:r>
            <a:endParaRPr lang="en-IN" sz="1200" b="1">
              <a:solidFill>
                <a:srgbClr val="F28C2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2EAA2-E266-1F90-400B-FFEAE097147C}"/>
              </a:ext>
            </a:extLst>
          </p:cNvPr>
          <p:cNvSpPr txBox="1"/>
          <p:nvPr/>
        </p:nvSpPr>
        <p:spPr>
          <a:xfrm>
            <a:off x="889000" y="1460500"/>
            <a:ext cx="10414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5200" b="1">
                <a:solidFill>
                  <a:srgbClr val="FFFFFF"/>
                </a:solidFill>
                <a:latin typeface="Segoe UI" panose="020B0502040204020203" pitchFamily="34" charset="0"/>
              </a:rPr>
              <a:t>ANNPATH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D5216-617E-8FD3-520F-EB5EAA29B427}"/>
              </a:ext>
            </a:extLst>
          </p:cNvPr>
          <p:cNvSpPr txBox="1"/>
          <p:nvPr/>
        </p:nvSpPr>
        <p:spPr>
          <a:xfrm>
            <a:off x="889000" y="26035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DCDCDC"/>
                </a:solidFill>
                <a:latin typeface="Segoe UI" panose="020B0502040204020203" pitchFamily="34" charset="0"/>
              </a:rPr>
              <a:t>A Path from Surplus to Need: Autonomous Global Food Surplus Redistribution Platform</a:t>
            </a:r>
            <a:endParaRPr lang="en-IN" sz="1700">
              <a:solidFill>
                <a:srgbClr val="DCDCD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0340C-F42F-91F9-A084-E129A481A0D3}"/>
              </a:ext>
            </a:extLst>
          </p:cNvPr>
          <p:cNvSpPr/>
          <p:nvPr/>
        </p:nvSpPr>
        <p:spPr>
          <a:xfrm>
            <a:off x="889000" y="3683000"/>
            <a:ext cx="10414000" cy="2222500"/>
          </a:xfrm>
          <a:prstGeom prst="rect">
            <a:avLst/>
          </a:prstGeom>
          <a:solidFill>
            <a:srgbClr val="424A36"/>
          </a:solidFill>
          <a:ln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7DC55-4134-B957-8E9D-C9DF582A7B25}"/>
              </a:ext>
            </a:extLst>
          </p:cNvPr>
          <p:cNvSpPr txBox="1"/>
          <p:nvPr/>
        </p:nvSpPr>
        <p:spPr>
          <a:xfrm>
            <a:off x="1143000" y="3873500"/>
            <a:ext cx="9906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>
                <a:solidFill>
                  <a:srgbClr val="EAEAEA"/>
                </a:solidFill>
                <a:latin typeface="Segoe UI" panose="020B0502040204020203" pitchFamily="34" charset="0"/>
              </a:rPr>
              <a:t>Core Architectural Pillars:
1. Deterministic Rescue Priority Scoring (RPS) Engine (0-100 Multi-Vector Mathematical Model)
2. Zero Administrative Overhead: Direct Peer-to-Peer Model (Donors &lt;-&gt; Verified NGOs &lt;-&gt; Volunteers)
3. Cryptographic Chain of Custody: Dual-Handover OTPs and SHA-256 Signed Digital Rescue Receipts
4. Enterprise Pure Java Stack: Java EE 7 / Servlet 3.1 / MySQL 8.0 (Zero Framework Bloat)</a:t>
            </a:r>
          </a:p>
        </p:txBody>
      </p:sp>
    </p:spTree>
    <p:extLst>
      <p:ext uri="{BB962C8B-B14F-4D97-AF65-F5344CB8AC3E}">
        <p14:creationId xmlns:p14="http://schemas.microsoft.com/office/powerpoint/2010/main" val="35249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12D615-C764-6C62-E0D9-379677E5EB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FF986-80CB-69EA-43FE-8FC03B8F29B0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PROBLEM CONTEXT AND 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AFB5E-0E26-79D6-26D2-178E22DD28E7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The Global Food Paradox: Surplus vs. Hunger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3F336B-DFC7-336D-18F9-A78E56BF780A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17BCE-E594-7B97-BD8F-328206FCC989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2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52EAE9-F075-136D-1BC9-BAEC2C92BA9D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45D3D-D35E-AEC6-3FEF-5AA7255E5F21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DC368-23E1-BD31-19B1-F3F91391B60C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The Global Reality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64BAF-CCCB-5929-B9CD-D5C91AE3A5F4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1.3 Billion Metric Tonnes of edible food is lost or wasted globally every year (UNEP Food Waste Index 2024).
• Over 828 Million people suffer from acute hunger and chronic malnutrition globally (FAO Report).
• Economic Cost: More than 1 Trillion USD worth of edible food discarded into municipal landfills.
• Environmental Crisis: Food waste accounts for 8-10% of total global greenhouse gas emissions.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17009-445C-342F-BC63-B78A7AD8F3C8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564BD5-31AD-CD4A-52B0-8EB2D9E09207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761EC-5040-A0BF-E881-87EAB0704A3C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The Urban Redistribution Crisis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615866-239A-14E4-00BC-5AA921D1DDC1}"/>
              </a:ext>
            </a:extLst>
          </p:cNvPr>
          <p:cNvSpPr txBox="1"/>
          <p:nvPr/>
        </p:nvSpPr>
        <p:spPr>
          <a:xfrm>
            <a:off x="64770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Commercial Surplus Scale: Banquet halls, hotels, caterers, and bakeries discard fresh food daily.
• Operational Latency: Current donations depend on manual phone calls and informal social chat groups.
• Perishability Window: Cooked meals enter bacterial danger zone (5 C to 60 C) within 3 to 6 hours.
• Logistical Disconnect: Abundant edible food exists in commercial zones while shelters lack basic daily meals.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69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FBD35D-D154-E586-E1FE-F1E944BBDB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FDDAC-ACF6-712C-FDD0-4B548172FEDB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A11E1-0003-DB09-F04A-55955EFDCE93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Existing System Deficiencies and Structural Bottlenecks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E50FB-DB5D-58CD-3F23-7FF92CB1F1B2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1B6D6-ABB9-CB58-5A65-F7E91588F43F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3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A10C1-2C0E-C8DE-3E86-7CC6F36881F0}"/>
              </a:ext>
            </a:extLst>
          </p:cNvPr>
          <p:cNvSpPr/>
          <p:nvPr/>
        </p:nvSpPr>
        <p:spPr>
          <a:xfrm>
            <a:off x="635000" y="1270000"/>
            <a:ext cx="34290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70102-984A-9626-BE5A-7299EA715541}"/>
              </a:ext>
            </a:extLst>
          </p:cNvPr>
          <p:cNvSpPr/>
          <p:nvPr/>
        </p:nvSpPr>
        <p:spPr>
          <a:xfrm>
            <a:off x="635000" y="1270000"/>
            <a:ext cx="34290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6E958-D4BA-F972-D2F9-0C8D12AD8241}"/>
              </a:ext>
            </a:extLst>
          </p:cNvPr>
          <p:cNvSpPr txBox="1"/>
          <p:nvPr/>
        </p:nvSpPr>
        <p:spPr>
          <a:xfrm>
            <a:off x="825500" y="1358900"/>
            <a:ext cx="3048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Operational Latency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5FB3DC-2953-42C2-8F4A-2A3BAD6DCAFF}"/>
              </a:ext>
            </a:extLst>
          </p:cNvPr>
          <p:cNvSpPr txBox="1"/>
          <p:nvPr/>
        </p:nvSpPr>
        <p:spPr>
          <a:xfrm>
            <a:off x="825500" y="1854200"/>
            <a:ext cx="3048000" cy="16389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Centralized Warehouse Bottlenecks: Traditional food banks rely on central sorting, causing delays fatal to cooked food.
• Absence of Priority Scoring: All donations are treated identically; urgent cooked food waits behind packaged goods.
• Inventory Race Conditions: Existing apps lack row-level locking, resulting in multiple NGOs double-claiming the same batch.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70E2E7-E7EA-43EA-92F9-19964614E9D4}"/>
              </a:ext>
            </a:extLst>
          </p:cNvPr>
          <p:cNvSpPr/>
          <p:nvPr/>
        </p:nvSpPr>
        <p:spPr>
          <a:xfrm>
            <a:off x="4381500" y="1270000"/>
            <a:ext cx="34290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B9228F-6B46-C475-C1A1-A6D5F98CA638}"/>
              </a:ext>
            </a:extLst>
          </p:cNvPr>
          <p:cNvSpPr/>
          <p:nvPr/>
        </p:nvSpPr>
        <p:spPr>
          <a:xfrm>
            <a:off x="4381500" y="1270000"/>
            <a:ext cx="34290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DA6E50-3DC3-9C94-99FA-2BD4BB674AF8}"/>
              </a:ext>
            </a:extLst>
          </p:cNvPr>
          <p:cNvSpPr txBox="1"/>
          <p:nvPr/>
        </p:nvSpPr>
        <p:spPr>
          <a:xfrm>
            <a:off x="4572000" y="1358900"/>
            <a:ext cx="3048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Trust and Compliance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B6E74-8EE8-064D-9570-EC44A1A8DE04}"/>
              </a:ext>
            </a:extLst>
          </p:cNvPr>
          <p:cNvSpPr txBox="1"/>
          <p:nvPr/>
        </p:nvSpPr>
        <p:spPr>
          <a:xfrm>
            <a:off x="4572000" y="1854200"/>
            <a:ext cx="3048000" cy="16389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Trust and Fraud Deficit: Donors fear food safety liability and brand harm if food is mishandled or diverted.
• Manual NGO Onboarding: Vetting NGO statutory registrations (12A/80G/501c3) takes 7-14 business days.
• Zero Proof of Delivery: Corporate donors receive unverified digital texts instead of audited CSR receipts.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ABA18-466A-200B-A010-B60E6B046D38}"/>
              </a:ext>
            </a:extLst>
          </p:cNvPr>
          <p:cNvSpPr/>
          <p:nvPr/>
        </p:nvSpPr>
        <p:spPr>
          <a:xfrm>
            <a:off x="8128000" y="1270000"/>
            <a:ext cx="3429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F34873-9A7C-C22E-E52A-4234ED75D7FF}"/>
              </a:ext>
            </a:extLst>
          </p:cNvPr>
          <p:cNvSpPr/>
          <p:nvPr/>
        </p:nvSpPr>
        <p:spPr>
          <a:xfrm>
            <a:off x="8128000" y="1270000"/>
            <a:ext cx="34290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3C4994-E5E9-98BE-E48F-22D09071DCE6}"/>
              </a:ext>
            </a:extLst>
          </p:cNvPr>
          <p:cNvSpPr txBox="1"/>
          <p:nvPr/>
        </p:nvSpPr>
        <p:spPr>
          <a:xfrm>
            <a:off x="8318500" y="1358900"/>
            <a:ext cx="3048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Volunteer Dispatch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C48D3-AE6E-98BD-9FD7-D4132879BF5E}"/>
              </a:ext>
            </a:extLst>
          </p:cNvPr>
          <p:cNvSpPr txBox="1"/>
          <p:nvPr/>
        </p:nvSpPr>
        <p:spPr>
          <a:xfrm>
            <a:off x="8318500" y="1854200"/>
            <a:ext cx="3048000" cy="16389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Unguided Volunteer Broadcast: Broadcast notifications overwhelm popular routes while neglecting remote shelters.
• Cargo Incompatibility: Two-wheelers are dispatched for 200 kg cargo, resulting in dispatch failures.
• No Auto-Escalation: Abandoned pickups lead to food spoilage without automated fallback mechanisms.</a:t>
            </a:r>
          </a:p>
        </p:txBody>
      </p:sp>
    </p:spTree>
    <p:extLst>
      <p:ext uri="{BB962C8B-B14F-4D97-AF65-F5344CB8AC3E}">
        <p14:creationId xmlns:p14="http://schemas.microsoft.com/office/powerpoint/2010/main" val="409574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A26338-9AAA-879C-BE2E-CFCD2F26C6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6419F-E1E7-015E-9963-3C42216483DB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CORE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34AB1-2ECB-B482-C385-69AC7554C03D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Platform Vision and Specific Engineering Goals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AFB35-C44E-6383-8693-F91CF3E2FC9A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CFD8A-4613-83D6-E646-675509230C61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4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565C4-5AAE-107C-2E5F-915E28F55F7E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5E7884-B65E-33A3-7ACF-7AE9ADE8940D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FE419-B9FE-C688-FBFA-E985B324F28A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Functional and Algorithmic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98A34-7102-3522-48A5-4CE7D1861D49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Develop a zero-administrative-overhead web platform connecting Donors, Verified NGOs, and Volunteers directly.
• Formulate a deterministic Rescue Priority Score (RPS) engine (0-100) with explainable human-readable rationale.
• Deploy a 60-second autonomous urgency state engine transitioning listings (FRESH, EXPIRING SOON, CRITICAL, EXPIRED).
• Implement automated statutory NGO verification based on country-specific regulatory criteria.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74085-E3CE-43E2-545D-687915055F99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92C8E6-C00F-8F9B-26D6-96E24FDEE6B2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9C770-0B48-AEF5-B734-A1E3A2A9839E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Security and Architectural Goals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67091-4447-4C49-AF35-3A28F7244466}"/>
              </a:ext>
            </a:extLst>
          </p:cNvPr>
          <p:cNvSpPr txBox="1"/>
          <p:nvPr/>
        </p:nvSpPr>
        <p:spPr>
          <a:xfrm>
            <a:off x="64770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Deploy Haversine geodesic proximity queries with B-tree bounding box pre-filtering for sub-50ms dispatch.
• Enforce a dual-handover OTP protocol (pickup and delivery) generating tamper-evident SHA-256 digital rescue receipts.
• Guarantee 100% inventory conservation under concurrent transaction race conditions (SELECT ... FOR UPDATE).
• Deliver a framework-free, enterprise Java EE 7 MVC architecture booting in under 2 seconds.</a:t>
            </a:r>
          </a:p>
        </p:txBody>
      </p:sp>
    </p:spTree>
    <p:extLst>
      <p:ext uri="{BB962C8B-B14F-4D97-AF65-F5344CB8AC3E}">
        <p14:creationId xmlns:p14="http://schemas.microsoft.com/office/powerpoint/2010/main" val="121123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80527B-4E03-D0B4-1B55-B751AC1311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67A4E-9825-68E1-F3BD-C210EF23A563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48816-6119-87FB-49B3-9E8F6046B95D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>
                <a:solidFill>
                  <a:srgbClr val="176B4D"/>
                </a:solidFill>
                <a:latin typeface="Segoe UI" panose="020B0502040204020203" pitchFamily="34" charset="0"/>
              </a:rPr>
              <a:t>Pure 4-Tier Enterprise Java EE MVC Framework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1B301F-6C68-838F-F2A9-2DAACCE7B15D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8B2541-0A9B-1759-FE4C-ECC28AC34CFB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5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26A481-CA4D-1671-F422-93BD0CC94AEE}"/>
              </a:ext>
            </a:extLst>
          </p:cNvPr>
          <p:cNvSpPr/>
          <p:nvPr/>
        </p:nvSpPr>
        <p:spPr>
          <a:xfrm>
            <a:off x="635000" y="1270000"/>
            <a:ext cx="25400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80D4C-6401-842A-E468-ED98582A0B65}"/>
              </a:ext>
            </a:extLst>
          </p:cNvPr>
          <p:cNvSpPr/>
          <p:nvPr/>
        </p:nvSpPr>
        <p:spPr>
          <a:xfrm>
            <a:off x="635000" y="1270000"/>
            <a:ext cx="25400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1D326-E380-EE9B-8541-790C6E044AD3}"/>
              </a:ext>
            </a:extLst>
          </p:cNvPr>
          <p:cNvSpPr txBox="1"/>
          <p:nvPr/>
        </p:nvSpPr>
        <p:spPr>
          <a:xfrm>
            <a:off x="825500" y="1358900"/>
            <a:ext cx="2159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1.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11925A-B205-92E1-387E-77BA704F2EA7}"/>
              </a:ext>
            </a:extLst>
          </p:cNvPr>
          <p:cNvSpPr txBox="1"/>
          <p:nvPr/>
        </p:nvSpPr>
        <p:spPr>
          <a:xfrm>
            <a:off x="825500" y="1854200"/>
            <a:ext cx="2159000" cy="216982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JSP 2.3 + JSTL 1.2 Views: Server-side rendering with modular components (header, navbar, footer, alert).
• Vanilla HTML5 / CSS3 / ES6: Responsive design, custom design system, zero heavy JavaScript bundle dependencies.
• HTML5 Geolocation API: Real-time user GPS coordinate detection for hyper-local nearby food discovery.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EDEDE-26C2-78B2-73CF-C5A2FC8D5842}"/>
              </a:ext>
            </a:extLst>
          </p:cNvPr>
          <p:cNvSpPr/>
          <p:nvPr/>
        </p:nvSpPr>
        <p:spPr>
          <a:xfrm>
            <a:off x="3429000" y="1270000"/>
            <a:ext cx="25400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BA978A-5DE5-768C-BF8F-BB71BC7DA169}"/>
              </a:ext>
            </a:extLst>
          </p:cNvPr>
          <p:cNvSpPr/>
          <p:nvPr/>
        </p:nvSpPr>
        <p:spPr>
          <a:xfrm>
            <a:off x="3429000" y="1270000"/>
            <a:ext cx="25400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9F306-1005-0FE2-13AE-9D3AC8C9BA9D}"/>
              </a:ext>
            </a:extLst>
          </p:cNvPr>
          <p:cNvSpPr txBox="1"/>
          <p:nvPr/>
        </p:nvSpPr>
        <p:spPr>
          <a:xfrm>
            <a:off x="3619500" y="1358900"/>
            <a:ext cx="2159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2. Controllers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D5BE2-5F6C-0421-DCC2-180386B06E47}"/>
              </a:ext>
            </a:extLst>
          </p:cNvPr>
          <p:cNvSpPr txBox="1"/>
          <p:nvPr/>
        </p:nvSpPr>
        <p:spPr>
          <a:xfrm>
            <a:off x="3619500" y="1854200"/>
            <a:ext cx="2159000" cy="216982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Servlet 3.1 Controllers: Centralized request routing (DonorServlet, NgoServlet, VolunteerServlet).
• 6-Stage Filter Pipeline: CharacterEncoding -&gt; SecurityHeaders -&gt; Localization -&gt; RateLimit -&gt; Auth -&gt; CSRF.
• Session Management: HTTP-only session cookies with 60-minute timeout and cryptographic token rotation.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7A8E3E-55FD-05A5-F088-6AA9617145A0}"/>
              </a:ext>
            </a:extLst>
          </p:cNvPr>
          <p:cNvSpPr/>
          <p:nvPr/>
        </p:nvSpPr>
        <p:spPr>
          <a:xfrm>
            <a:off x="6223000" y="1270000"/>
            <a:ext cx="2540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AED697-E8E9-EA59-4637-76F769A5F7B9}"/>
              </a:ext>
            </a:extLst>
          </p:cNvPr>
          <p:cNvSpPr/>
          <p:nvPr/>
        </p:nvSpPr>
        <p:spPr>
          <a:xfrm>
            <a:off x="6223000" y="1270000"/>
            <a:ext cx="25400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BFABCA-90C1-DA1C-E010-C3CAFC2890BF}"/>
              </a:ext>
            </a:extLst>
          </p:cNvPr>
          <p:cNvSpPr txBox="1"/>
          <p:nvPr/>
        </p:nvSpPr>
        <p:spPr>
          <a:xfrm>
            <a:off x="6413500" y="1358900"/>
            <a:ext cx="2159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3. Services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29FCBF-ADF5-EB9B-C556-B7ACCBD17353}"/>
              </a:ext>
            </a:extLst>
          </p:cNvPr>
          <p:cNvSpPr txBox="1"/>
          <p:nvPr/>
        </p:nvSpPr>
        <p:spPr>
          <a:xfrm>
            <a:off x="6413500" y="1854200"/>
            <a:ext cx="2159000" cy="199285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UrgencyEngine: Background daemon executing 60s shelf-life urgency scanning.
• RescuePriorityEngine: Multi-factor explainable 0-100 scoring.
• SmartMatchingEngine: Proximity, dietary constraints, and NGO daily capacity matching.
• VolunteerAssignmentEngine: Vehicle capability and active workload balancing.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158AEE-C0E7-1270-95CA-3759E9AE7107}"/>
              </a:ext>
            </a:extLst>
          </p:cNvPr>
          <p:cNvSpPr/>
          <p:nvPr/>
        </p:nvSpPr>
        <p:spPr>
          <a:xfrm>
            <a:off x="9017000" y="1270000"/>
            <a:ext cx="25400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638971-F4E6-30D9-CBC0-E16CA173BC4B}"/>
              </a:ext>
            </a:extLst>
          </p:cNvPr>
          <p:cNvSpPr/>
          <p:nvPr/>
        </p:nvSpPr>
        <p:spPr>
          <a:xfrm>
            <a:off x="9017000" y="1270000"/>
            <a:ext cx="25400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ED74AB-19C0-C827-FF0A-A951B22BD1D1}"/>
              </a:ext>
            </a:extLst>
          </p:cNvPr>
          <p:cNvSpPr txBox="1"/>
          <p:nvPr/>
        </p:nvSpPr>
        <p:spPr>
          <a:xfrm>
            <a:off x="9207500" y="1358900"/>
            <a:ext cx="2159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4. Persistence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BFB5E7-4B56-FBCA-DBA6-B9E81391AA0D}"/>
              </a:ext>
            </a:extLst>
          </p:cNvPr>
          <p:cNvSpPr txBox="1"/>
          <p:nvPr/>
        </p:nvSpPr>
        <p:spPr>
          <a:xfrm>
            <a:off x="9207500" y="1854200"/>
            <a:ext cx="2159000" cy="16389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15 DAO Implementations: Direct hand-optimized SQL with zero ORM overhead.
• ConnectionPool: Self-healing bounded pool with JNDI fallback (jdbc/AnnPathDB).
• MySQL 8.0 InnoDB: 26 normalized tables, foreign keys, spatial and status indexes.</a:t>
            </a:r>
          </a:p>
        </p:txBody>
      </p:sp>
    </p:spTree>
    <p:extLst>
      <p:ext uri="{BB962C8B-B14F-4D97-AF65-F5344CB8AC3E}">
        <p14:creationId xmlns:p14="http://schemas.microsoft.com/office/powerpoint/2010/main" val="159954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C8ABD6-F0C5-9504-DBFE-731B6A540D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F9EFC-5131-E6EB-A7B2-5C732528DB9F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ALGORITHMIC INNOVATION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ACB3C-48DD-AD47-7E7D-B967306CFEEB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Deterministic Explainable Rescue Priority Score (RPS)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703E6-C7D6-6D7C-970B-F6AF8D77FB3C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9E404-E514-4430-5ACA-527F1B249154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6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22E628-1995-EBF2-4394-2283AC1C59F2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FC34F-7D50-82EE-7964-1B28A2F8DB5B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BB87A-4EEB-2A4A-3047-B7F1B619A24C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Mathematical Formulation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4E012-6872-37B3-44CF-1CBC04A4B107}"/>
              </a:ext>
            </a:extLst>
          </p:cNvPr>
          <p:cNvSpPr txBox="1"/>
          <p:nvPr/>
        </p:nvSpPr>
        <p:spPr>
          <a:xfrm>
            <a:off x="825500" y="1854200"/>
            <a:ext cx="4889500" cy="181588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Mathematical Model: RPS = (0.40 * S_time) + (0.25 * S_perishability) + (0.20 * S_quantity) + (0.15 * S_demand)
• Shelf-Life Factor (40%): &lt;= 2h remaining -&gt; 100 | &lt;= 6h -&gt; 75 | &lt;= 12h -&gt; 50 | &gt; 12h -&gt; 25
• Thermal Factor (25%): WARM_HEATED -&gt; 100 | REFRIGERATED/FROZEN -&gt; 80 | ROOM_TEMP -&gt; 40
• Volume Factor (20%): min(100, log10(max(10, Qty)) * 35) (favors large-scale pallet rescues)
• Demand Factor (15%): min(100, N_matching_ngos * 30) (prioritizes food with verified active demand)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7826B2-4880-A627-B45A-CB87DAEBDD13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37F5AC-831A-2BCC-F3AE-034CCC5F4A83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20E86D-269A-ACB3-7CB2-F80BAA70C1F9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Priority Badges and Explainability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0A1C9B-AB6E-34E7-430D-8CBB3E76423E}"/>
              </a:ext>
            </a:extLst>
          </p:cNvPr>
          <p:cNvSpPr txBox="1"/>
          <p:nvPr/>
        </p:nvSpPr>
        <p:spPr>
          <a:xfrm>
            <a:off x="64770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Score &gt;= 80.0 OR CRITICAL =&gt; Badge: Rescue Now (Immediate emergency volunteer dispatch)
• 60.0 &lt;= Score &lt; 80.0 =&gt; Badge: High Priority
• 40.0 &lt;= Score &lt; 60.0 =&gt; Badge: Medium Priority
• Score &lt; 40.0 =&gt; Badge: Standard Priority
• Transparent Human Rationale: The UI explains exact contributing factors (e.g. Critical: expires in 1.5h - Cooked hot food - High volume rescue - Matches 2 NGOs).</a:t>
            </a:r>
          </a:p>
        </p:txBody>
      </p:sp>
    </p:spTree>
    <p:extLst>
      <p:ext uri="{BB962C8B-B14F-4D97-AF65-F5344CB8AC3E}">
        <p14:creationId xmlns:p14="http://schemas.microsoft.com/office/powerpoint/2010/main" val="309634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76143B-A13D-FA9E-C713-AC1B8DC760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85CF6-BDF7-BE71-6D52-DE43DEAF6318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SPATIAL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FC16A-2FD4-85BD-E7FF-E49D78B10A10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Haversine Geodesic Math and Bounding Box Acceleration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A5095-6C7A-DC7B-BDD1-20B4F20171ED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08449-1A92-E50B-2160-BCFE8AE36FF0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7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339EFA-2E3E-E617-768D-3F833DD18D8B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2DC86D-14D4-37B7-1DF1-A816AC3D628C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4409D-E3A0-9067-F18B-4BCD6380A4AF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Haversine Spatial Routing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D2E1C-28FD-F942-ECEB-FE0279F45C09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Great-Circle Spherical Calculation: Measures precise spherical distance between coordinates taking Earth curvature into account.
• Formula: d = 2 * R * arcsin(sqrt(sin^2(dLat/2) + cos(lat1)*cos(lat2)*sin^2(dLon/2))) where R = 6,371 km.
• Zero API Dependency: Executed entirely in Java memory, eliminating Google Maps API quotas and network latency.
• Metric and Imperial Support: Seamless automatic conversion between kilometers and miles.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E25E48-F131-EBC5-E771-9E469EFFAA15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B434E3-B1BB-E5EA-941F-F9DC3376E687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97499-1F9E-835F-A5C8-CFD17E0E7B13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Bounding Box Query Acceleration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24B12F-22E8-086A-74BF-70F1630E66B9}"/>
              </a:ext>
            </a:extLst>
          </p:cNvPr>
          <p:cNvSpPr txBox="1"/>
          <p:nvPr/>
        </p:nvSpPr>
        <p:spPr>
          <a:xfrm>
            <a:off x="6477000" y="1854200"/>
            <a:ext cx="4889500" cy="181588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Two-Tier Spatial Indexing Strategy: Exact spherical math over 100,000 coordinates is CPU-intensive.
• Step 1: Bounding Box Calculation: Calculates [minLat, maxLat, minLon, maxLon] coordinates around the target radius.
• Step 2: Indexed SQL Filter: B-Tree database indexes rapidly isolate candidate listings in &lt; 5 milliseconds.
• Step 3: Precise In-Memory Haversine: Refines the candidate list to exact kilometer proximity.
• Performance Result: Sub-50 millisecond spatial queries across 50,000 concurrent listings.</a:t>
            </a:r>
          </a:p>
        </p:txBody>
      </p:sp>
    </p:spTree>
    <p:extLst>
      <p:ext uri="{BB962C8B-B14F-4D97-AF65-F5344CB8AC3E}">
        <p14:creationId xmlns:p14="http://schemas.microsoft.com/office/powerpoint/2010/main" val="361715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6B852F-C8D4-439A-4ED6-ADE6BCE42F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83681-38BA-EB82-8EFD-601E891DE0EA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STATE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CF9E2-D122-82F6-2A8B-764480C3B6FA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Autonomous 12-State Food Surplus Lifecycle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0884EF-0299-A9DE-F49F-057C7CD98956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B9FD7-9F9C-A61B-5D5D-15D03BEA8798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8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09505-F98F-0098-17A4-A4A353FCCA47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F1AB4D-61CF-855D-72F6-3B758A7D6C72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4F4C4-744F-2B79-964B-81E853AB3D88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300" b="1">
                <a:solidFill>
                  <a:srgbClr val="176B4D"/>
                </a:solidFill>
                <a:latin typeface="Segoe UI" panose="020B0502040204020203" pitchFamily="34" charset="0"/>
              </a:rPr>
              <a:t>Phase 1: Publication to Assignment</a:t>
            </a:r>
            <a:endParaRPr lang="en-IN" sz="13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16790-E722-C288-0012-CA2BC0404360}"/>
              </a:ext>
            </a:extLst>
          </p:cNvPr>
          <p:cNvSpPr txBox="1"/>
          <p:nvPr/>
        </p:nvSpPr>
        <p:spPr>
          <a:xfrm>
            <a:off x="825500" y="1854200"/>
            <a:ext cx="4889500" cy="216982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1. DONATED: Food published by donor with preparation time and expiration deadline.
• 2. MATCHED: SmartMatchingEngine matches active NGO requirements within service radius.
• 3. REQUESTED: Verified NGO submits request with required quantity and dietary notes.
• 4. APPROVED: Donor approves request; row-level lock reserves inventory atomically.
• 5. VOLUNTEER_ASSIGNED: Geodesic dispatch assigns nearby volunteer matching vehicle capacity.
• 6. NGO_SELF_PICKUP_ASSIGNED: Auto-fallback triggered if no volunteer responds within 30 minutes.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279150-C6CE-135F-B6B7-6C5D0C715802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532386-1049-D7D1-1049-50F410CAF9F3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AAEEF7-9D24-D417-B434-C861F941A569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Phase 2: Fulfillment and Receipts</a:t>
            </a:r>
            <a:endParaRPr lang="en-IN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2C7843-854E-0201-C560-0A26A5E76191}"/>
              </a:ext>
            </a:extLst>
          </p:cNvPr>
          <p:cNvSpPr txBox="1"/>
          <p:nvPr/>
        </p:nvSpPr>
        <p:spPr>
          <a:xfrm>
            <a:off x="6477000" y="1854200"/>
            <a:ext cx="4889500" cy="199285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7. PICKED_UP: Volunteer physically inspects food and validates donors 6-digit Pickup OTP.
• 8. DELIVERED: Food transferred to NGO; volunteer validates recipients 6-digit Delivery OTP.
• 9. RECEIVED: NGO verifies temperature, quality, and accepts custody.
• 10. DISTRIBUTED: Meals fed to beneficiaries; triggers SHA-256 Digital Rescue Receipt.
• 11. CANCELLED: Explicit cancellation by donor with automatic inventory release.
• 12. EXPIRED: Background scanner auto-expires unclaimed surplus past deadline.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210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7C6A84-B042-B65A-B1ED-86F09E432F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F5B97-360C-B75B-C1FA-EE75BD8DF9C4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CONCURRENCY AND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4B4F5-9580-EB89-0983-6D312525DC8F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Row-Level Locking and Multithreaded Inventory Protection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07682-6B57-162E-42C6-A8449D77A010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78AB8-1034-CBFC-F2DE-C8FD02AA139B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9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6233E5-34FF-68E1-464F-783316955D98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26B632-B748-F6E4-44F2-4C17DFCDE753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5C51A4-DE0B-B41A-8355-F89EFA977098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Transaction Isolation and Row Locks</a:t>
            </a:r>
            <a:endParaRPr lang="en-IN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0F144-47C8-3DEB-346A-BD211F852E06}"/>
              </a:ext>
            </a:extLst>
          </p:cNvPr>
          <p:cNvSpPr txBox="1"/>
          <p:nvPr/>
        </p:nvSpPr>
        <p:spPr>
          <a:xfrm>
            <a:off x="825500" y="1854200"/>
            <a:ext cx="4889500" cy="16389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The Race Condition Threat: When multiple NGOs request surplus from the same listing simultaneously, naive updates cause over-allocation.
• Row-Level Database Locking: FoodListingDao executes SELECT ... FOR UPDATE within an explicit database transaction.
• Atomic Quantity Decrement: UPDATE food_listings SET remaining_quantity = remaining_quantity - ?, reserved_quantity = reserved_quantity + ?, version = version + 1 WHERE id = ? AND version = ? AND remaining_quantity &gt;= ?
• Mathematical Guarantee: Negative inventory is physically impossible at the database engine level.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35255A-153B-5E4B-61B2-A101ACD645CE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7103C3-6796-BF23-ED6B-DCA65852DBC6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D90FC3-BB9B-454F-8B6C-8B033E927910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Defense-in-Depth Security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89974-6F93-471D-2EBF-99752FF0B6F0}"/>
              </a:ext>
            </a:extLst>
          </p:cNvPr>
          <p:cNvSpPr txBox="1"/>
          <p:nvPr/>
        </p:nvSpPr>
        <p:spPr>
          <a:xfrm>
            <a:off x="6477000" y="1854200"/>
            <a:ext cx="4889500" cy="128496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PBKDF2-HMAC-SHA512: 100,000 iterations with 24-byte per-user salts; constant-time comparison prevents timing attacks.
• Session-Bound Anti-CSRF: Cryptographic tokens validated on all state-changing POST/PUT verbs.
• Defensive XSS Escaping: Strict HTML entity conversion across all user inputs.
• Sliding-Window Rate Limiter: In-memory IP-based throttling (120 req/min default) preventing brute force and DDoS.</a:t>
            </a:r>
          </a:p>
        </p:txBody>
      </p:sp>
    </p:spTree>
    <p:extLst>
      <p:ext uri="{BB962C8B-B14F-4D97-AF65-F5344CB8AC3E}">
        <p14:creationId xmlns:p14="http://schemas.microsoft.com/office/powerpoint/2010/main" val="99470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EF80DD-532D-4F82-69A0-8538FEBD64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D82C4B-F9DC-AC1B-E829-C73A302762ED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CHAIN OF CUSTODY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99781-C817-3EF1-08AD-497C7A39019A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Dual-Handover Cryptography and Digital Rescue Receipts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0D8B5-1373-C8BA-18E2-5B556CBEEE97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A275E-CAF4-1C20-2BD5-EC8A775DFF90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10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3788A-768B-3E5F-18C4-70D9B02887F2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881EAC-AFA4-7D0D-1B9B-D80EB2F929DA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F9B15-A783-FF28-F95C-6B2C872E01E8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Handover 1: Donor -&gt; Volunteer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70D9C-D024-5D4A-C297-5860C9AF7698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Stage 1: Food Pickup Handover
• - System generates a random 6-digit Pickup OTP stored as a cryptographic hash.
• - OTP is displayed only on the Donors private dashboard.
• - Volunteer collects the surplus, verifies food quality, and inputs the donors code.
• - Server validates OTP via constant-time comparison before unlocking status to PICKED_UP.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C473C-4A66-14CC-D2B2-79E47BB0CC46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3E07E9-A5AB-9B56-CCB8-69267CF21ABD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6A58FD-9A43-DA30-3F03-8950CE3DB260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Handover 2: Volunteer -&gt; NGO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897B20-005C-00F7-F6F2-9470BD2C8C67}"/>
              </a:ext>
            </a:extLst>
          </p:cNvPr>
          <p:cNvSpPr txBox="1"/>
          <p:nvPr/>
        </p:nvSpPr>
        <p:spPr>
          <a:xfrm>
            <a:off x="64770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Stage 2: NGO Delivery Handover
• - Separate 6-digit Delivery OTP generated for the receiving NGO staff.
• - Volunteer delivers food; NGO staff inspects cargo and provides Delivery OTP.
• Stage 3: SHA-256 Digital Rescue Receipt
• - Generates immutable signature: SHA256(receipt_no | donor_id | ngo_id | unit | qty | timestamp).
• - Creates audited, tamper-evident proof for Corporate CSR reporting and tax deductions.</a:t>
            </a:r>
          </a:p>
        </p:txBody>
      </p:sp>
    </p:spTree>
    <p:extLst>
      <p:ext uri="{BB962C8B-B14F-4D97-AF65-F5344CB8AC3E}">
        <p14:creationId xmlns:p14="http://schemas.microsoft.com/office/powerpoint/2010/main" val="417493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1ADD70-4BCE-10C1-1A4B-15A72B2A66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1279E-D507-A209-0878-9476F09AC4B5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ENGINEERING RATIONALE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4955A-6D9C-2C6F-7C4D-90DAB3950E0D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The 70/30 Architectural Paradigm: Eliminating Bloat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CAFC5A-2D09-5772-FF15-AAEC1A5B1149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C3A50-AEDC-BAAD-AF37-13BDC070F86F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11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2E5113-694B-F578-51C4-F823FE23B0E6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F786DB-FE8A-48B1-C470-578CABE79051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55036-B699-5B40-6D59-854D27195027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70% Core Enterprise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29757-E250-5947-9FFD-BC5FB8B19AEC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Java SE 8 + Servlet 3.1: Native HTTP pipeline with zero framework overhead.
• JSP 2.3 + JSTL 1.2: Clean server-side templating without Node.js build pipelines.
• Pure JDBC: Hand-optimized SQL queries with exact index execution plans.
• MySQL 8.0 InnoDB: ACID transaction reliability with multi-column spatial indexing.
• Vanilla JS + CSS3: Instant rendering on low-bandwidth mobile devices in rural areas.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A913F8-AA07-0B7E-20FB-577F55A66846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0108C0-49A0-ACFC-3A39-F99DA00C8662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66D6C9-34E7-A4D7-ABF4-F01091780E66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30% Selective Enhancements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E38736-3F9F-376A-2C91-3701E43C1316}"/>
              </a:ext>
            </a:extLst>
          </p:cNvPr>
          <p:cNvSpPr txBox="1"/>
          <p:nvPr/>
        </p:nvSpPr>
        <p:spPr>
          <a:xfrm>
            <a:off x="64770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PBKDF2-HMAC-SHA512 + Salts (Cryptographic security exceeding typical student apps).
• Sliding-Window IP Rate Limiter and Security Headers Filter (CSP, X-Frame-Options).
• Deterministic Explainable RPS Algorithm and Haversine Geodesic Math.
• ResourceBundle Multi-Language Globalization (English, Hindi, Spanish, French).
• Performance Benchmark: Startup in &lt; 2 seconds vs. 25s for Spring Boot; &lt; 150 MB RAM vs. 1.2 GB.</a:t>
            </a:r>
          </a:p>
        </p:txBody>
      </p:sp>
    </p:spTree>
    <p:extLst>
      <p:ext uri="{BB962C8B-B14F-4D97-AF65-F5344CB8AC3E}">
        <p14:creationId xmlns:p14="http://schemas.microsoft.com/office/powerpoint/2010/main" val="190477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9DEBE5-7EB8-F75D-BF6A-EC60FD8BF4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C558C-DA96-08D0-6D63-9FB3F2DBD602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DATABASE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A526F-794F-82AF-7A5C-EAEE3013784A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26 Normalized Relational Tables and Referential Integrity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3F9F0-993D-3A17-5993-237ED5F889A6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E5299-B634-9AF8-AE47-C49B33DDA167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12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4DF967-D69E-B12A-AA75-0542296199AF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ECEF6D-6B71-CE10-B95D-31AE1E62C1B2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3A72E-8557-ADB1-4514-B00B08292AFA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Entity Groupings (Part 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89243C-C1F2-586A-7695-CDC924478494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Core Authentication: users, otp_verifications, audit_logs (immutable compliance tracking).
• Specialized Profiles: donor_profiles, ngo_profiles, volunteer_profiles (1-to-1 extension).
• Statutory Compliance: verification_rules (country-specific legal criteria), verification_documents.
• Internationalization: countries (ISO-2), regions, measurement_units, timezones, languages.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5EAF5-7AC6-36AC-D5C0-140E2BC5425E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2688A-A96F-29A6-C9BC-C2220857CC76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6B73C7-1C67-172E-39A5-6786D0FEA335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Entity Groupings (Part 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B86FB-FBF5-5AB5-BAD8-98BCAB8DB60E}"/>
              </a:ext>
            </a:extLst>
          </p:cNvPr>
          <p:cNvSpPr txBox="1"/>
          <p:nvPr/>
        </p:nvSpPr>
        <p:spPr>
          <a:xfrm>
            <a:off x="6477000" y="1854200"/>
            <a:ext cx="4889500" cy="181588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Food Inventory: food_listings (with version column for optimistic locking), food_categories.
• Matching and Demands: ngo_requirements, food_requests, food_status_history.
• Logistics and Handover: pickups, pickup_assignment_history, feedback, complaints.
• Certificates and Impact: digital_rescue_receipts, impact_records (meals fed, CO2e averted).
• Indexing: Multi-column indexes on (latitude, longitude) and (listing_status, available_until).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836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C5313-9AF0-F59E-9EEC-7A07331446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CB1F6-5EF0-2793-D6A7-6AF247EC2F03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USER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46DA8-51F0-9C6B-93C0-6C2B17A04007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Dedicated Role Portals and Multi-Language Globalization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63A50-2759-6D8C-07AD-CCE020E25612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AD8A9-1624-6F7B-C866-0FDCBF23B2DC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13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1ACA3-16E2-4E20-A9CF-4FA2DBD575D5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F001DB-61A9-2B86-240E-1A48A22D787F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43A4B2-EA27-EA2B-A9AE-5E53F8B3CBBB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Three Distinct Portals (Zero Admin)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7221D4-0091-8356-EE3D-F29761AF59C2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Donor Portal: Real-time donation publishing, photo upload, incoming request approvals, impact stats.
• NGO Portal: Geospatial surplus browsing, demand specifications, document upload for instant verification.
• Volunteer Portal: Proximity dispatch radar, cargo vehicle matching, one-tap accept, OTP verification screen.
• Receipt Verification: Public receipt verification view with SHA-256 digital signature stamp.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6A969-A7EC-50F9-74F0-4F78B66531EA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7929B-EE87-0AF6-0D06-2762D8E17BB5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B10589-B24C-8314-B90A-7F1778C5B26F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Globalization (i18n) Engine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16E522-9D99-B5F2-27A1-C1806DA21352}"/>
              </a:ext>
            </a:extLst>
          </p:cNvPr>
          <p:cNvSpPr txBox="1"/>
          <p:nvPr/>
        </p:nvSpPr>
        <p:spPr>
          <a:xfrm>
            <a:off x="6477000" y="1854200"/>
            <a:ext cx="4889500" cy="128496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Standard Java ResourceBundle Architecture: Modular .properties files without database queries.
• Supported Languages: English (en), Hindi (hi), Spanish (es), and French (fr).
• Dynamic Locale Detection: Automatically inspects user profile, session toggle, or browser Accept-Language header.
• Localized Formatting: JSTL fmt tags format dates, numbers, and currencies according to regional conventions.</a:t>
            </a:r>
          </a:p>
        </p:txBody>
      </p:sp>
    </p:spTree>
    <p:extLst>
      <p:ext uri="{BB962C8B-B14F-4D97-AF65-F5344CB8AC3E}">
        <p14:creationId xmlns:p14="http://schemas.microsoft.com/office/powerpoint/2010/main" val="1444359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66B839-A0EC-2335-965F-FDE0B17486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608C9-F74B-F62F-D3E6-D14EA8E99961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VERIFICATION AND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8C864-941F-4256-A443-C848024959D6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Automated Test Suite and Concurrency Race Condition Results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875FBD-2427-4A0E-DBB9-6D8A5B8BA78D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F0230-D455-856C-1EFB-E51E0C6CF09D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14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1E642F-266E-98B0-0234-97D263292EE7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526B4D-DBA8-CCC1-F641-6709770622C2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2E909-6183-80BB-3F1D-4BAB79539C7D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300" b="1">
                <a:solidFill>
                  <a:srgbClr val="176B4D"/>
                </a:solidFill>
                <a:latin typeface="Segoe UI" panose="020B0502040204020203" pitchFamily="34" charset="0"/>
              </a:rPr>
              <a:t>Automated Test Results (12/12 Passed)</a:t>
            </a:r>
            <a:endParaRPr lang="en-IN" sz="13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990BA-35AF-AE06-7B2F-EED7B6732A3C}"/>
              </a:ext>
            </a:extLst>
          </p:cNvPr>
          <p:cNvSpPr txBox="1"/>
          <p:nvPr/>
        </p:nvSpPr>
        <p:spPr>
          <a:xfrm>
            <a:off x="8255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252525"/>
                </a:solidFill>
                <a:latin typeface="Calibri" panose="020F0502020204030204" pitchFamily="34" charset="0"/>
              </a:rPr>
              <a:t>• SecurityTest (6/6 Passed): PBKDF2 hash generation, salt uniqueness, constant-time verification, XSS escaping, email/phone regex, SHA-256 digital signatures, 6-digit OTP bounds.
• UrgencyAndPriorityTest (4/4 Passed): Dynamic urgency transitions, RPS score bounds (0-100), explainability badges, Haversine spherical accuracy, bounding box bounds.
• Master AllTests Runner: 12/12 test assertions executed with 100% pass rate in 3,461 ms.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A90D9A-41E2-FA33-A561-D7DA3DB54E54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8DF2A1-367A-AB74-1416-38D7EF1895A6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87C0C4-AA5F-B73C-6844-52C770866B31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Concurrency Race Condition Test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A371D-01E8-99BE-0611-A4EA4724F391}"/>
              </a:ext>
            </a:extLst>
          </p:cNvPr>
          <p:cNvSpPr txBox="1"/>
          <p:nvPr/>
        </p:nvSpPr>
        <p:spPr>
          <a:xfrm>
            <a:off x="64770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Stress Test Setup: 10 concurrent threads using CountDownLatch attempting to claim 15 kg each (150 kg total) from a single 100 kg listing.
• Transactional Invariant Maintained: remaining_quantity + reserved_quantity == 100.00 kg exactly.
• Execution Outcome: Exactly 6 transactions succeeded (90 kg reserved, 10 kg remaining).
• Rejection Outcome: Exactly 4 transactions were safely rejected; zero data corruption or negative inventory.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01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B20637-07D5-5A97-13BB-655D3F0CF9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65050-4599-C109-621C-1892F736BCAF}"/>
              </a:ext>
            </a:extLst>
          </p:cNvPr>
          <p:cNvSpPr txBox="1"/>
          <p:nvPr/>
        </p:nvSpPr>
        <p:spPr>
          <a:xfrm>
            <a:off x="635000" y="3048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F28C28"/>
                </a:solidFill>
                <a:latin typeface="Segoe UI" panose="020B0502040204020203" pitchFamily="34" charset="0"/>
              </a:rPr>
              <a:t>IMPACT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02F73-2172-354C-F1AE-A7069D151D0A}"/>
              </a:ext>
            </a:extLst>
          </p:cNvPr>
          <p:cNvSpPr txBox="1"/>
          <p:nvPr/>
        </p:nvSpPr>
        <p:spPr>
          <a:xfrm>
            <a:off x="635000" y="533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176B4D"/>
                </a:solidFill>
                <a:latin typeface="Segoe UI" panose="020B0502040204020203" pitchFamily="34" charset="0"/>
              </a:rPr>
              <a:t>Measurable Humanitarian, Environmental and Economic Impact</a:t>
            </a:r>
            <a:endParaRPr lang="en-IN" sz="2200" b="1">
              <a:solidFill>
                <a:srgbClr val="176B4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56F68E-233C-0DA8-14B5-8391D817CE8C}"/>
              </a:ext>
            </a:extLst>
          </p:cNvPr>
          <p:cNvSpPr/>
          <p:nvPr/>
        </p:nvSpPr>
        <p:spPr>
          <a:xfrm>
            <a:off x="635000" y="1041400"/>
            <a:ext cx="10922000" cy="254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F57E7-C66C-07CC-923C-091F69E431E9}"/>
              </a:ext>
            </a:extLst>
          </p:cNvPr>
          <p:cNvSpPr txBox="1"/>
          <p:nvPr/>
        </p:nvSpPr>
        <p:spPr>
          <a:xfrm>
            <a:off x="635000" y="6477000"/>
            <a:ext cx="10922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Segoe UI" panose="020B0502040204020203" pitchFamily="34" charset="0"/>
              </a:rPr>
              <a:t>AnnPath Enterprise Platform - Academic Project Presentation | Slide 15</a:t>
            </a:r>
            <a:endParaRPr lang="en-IN" sz="900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16D8F-CB18-F9BE-BBBD-FB449C2E4E56}"/>
              </a:ext>
            </a:extLst>
          </p:cNvPr>
          <p:cNvSpPr/>
          <p:nvPr/>
        </p:nvSpPr>
        <p:spPr>
          <a:xfrm>
            <a:off x="635000" y="1270000"/>
            <a:ext cx="52705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4AA15-2856-094C-CF56-F7A4D98E87EF}"/>
              </a:ext>
            </a:extLst>
          </p:cNvPr>
          <p:cNvSpPr/>
          <p:nvPr/>
        </p:nvSpPr>
        <p:spPr>
          <a:xfrm>
            <a:off x="635000" y="1270000"/>
            <a:ext cx="5270500" cy="457200"/>
          </a:xfrm>
          <a:prstGeom prst="rect">
            <a:avLst/>
          </a:prstGeom>
          <a:solidFill>
            <a:srgbClr val="EAEA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03710-E410-6D2A-26E1-7F7B4C372F2E}"/>
              </a:ext>
            </a:extLst>
          </p:cNvPr>
          <p:cNvSpPr txBox="1"/>
          <p:nvPr/>
        </p:nvSpPr>
        <p:spPr>
          <a:xfrm>
            <a:off x="8255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176B4D"/>
                </a:solidFill>
                <a:latin typeface="Segoe UI" panose="020B0502040204020203" pitchFamily="34" charset="0"/>
              </a:rPr>
              <a:t>Humanitarian Impact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D8B18B-9D90-A6AF-4BB1-26EB9627FF8C}"/>
              </a:ext>
            </a:extLst>
          </p:cNvPr>
          <p:cNvSpPr txBox="1"/>
          <p:nvPr/>
        </p:nvSpPr>
        <p:spPr>
          <a:xfrm>
            <a:off x="825500" y="1854200"/>
            <a:ext cx="4889500" cy="11079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Direct Hunger Alleviation: Empirically projected redistribution of 500,000+ nutritious meals annually per metropolitan city.
• Vulnerable Populations: Ensures timely supply of hot meals to orphanages, elderly care homes, and homeless shelters.
• Volunteer Mobilization: Gamified community engagement with verified volunteer dispatch credentials.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0665B-A888-01EE-81F1-DE85C3205639}"/>
              </a:ext>
            </a:extLst>
          </p:cNvPr>
          <p:cNvSpPr/>
          <p:nvPr/>
        </p:nvSpPr>
        <p:spPr>
          <a:xfrm>
            <a:off x="6286500" y="1270000"/>
            <a:ext cx="52705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83D3E-1B06-5590-B034-DB715F59BA60}"/>
              </a:ext>
            </a:extLst>
          </p:cNvPr>
          <p:cNvSpPr/>
          <p:nvPr/>
        </p:nvSpPr>
        <p:spPr>
          <a:xfrm>
            <a:off x="6286500" y="1270000"/>
            <a:ext cx="5270500" cy="457200"/>
          </a:xfrm>
          <a:prstGeom prst="rect">
            <a:avLst/>
          </a:prstGeom>
          <a:solidFill>
            <a:srgbClr val="176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66C297-3C12-7D9A-8E90-FE034C801570}"/>
              </a:ext>
            </a:extLst>
          </p:cNvPr>
          <p:cNvSpPr txBox="1"/>
          <p:nvPr/>
        </p:nvSpPr>
        <p:spPr>
          <a:xfrm>
            <a:off x="6477000" y="1358900"/>
            <a:ext cx="48895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Environmental and CSR Impact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52EE60-201E-44AE-3B53-A3DBD20ABF39}"/>
              </a:ext>
            </a:extLst>
          </p:cNvPr>
          <p:cNvSpPr txBox="1"/>
          <p:nvPr/>
        </p:nvSpPr>
        <p:spPr>
          <a:xfrm>
            <a:off x="6477000" y="1854200"/>
            <a:ext cx="4889500" cy="14619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252525"/>
                </a:solidFill>
                <a:latin typeface="Calibri" panose="020F0502020204030204" pitchFamily="34" charset="0"/>
              </a:rPr>
              <a:t>• Greenhouse Gas Abatement: UN models indicate 1 kg of saved food prevents 2.5 kg of CO2 equivalent emissions.
• Carbon Saving Metric: Reclaiming 200 tonnes annually averts 500 tonnes of atmospheric CO2e.
• Water Resource Conservation: Conserves approximately 1,000 liters of freshwater embedded per kilogram of food.
• Corporate CSR Compliance: SHA-256 signed receipts enable formal tax deductions under national food donation acts.</a:t>
            </a:r>
            <a:endParaRPr lang="en-IN" sz="1150">
              <a:solidFill>
                <a:srgbClr val="25252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026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07F2AD-3369-CF57-02A2-4D447B2E2D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80C662-ADCA-CB89-7133-5DBC12C5ABCF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FF79C-BD5E-EC75-DCB1-5021E52BF1C8}"/>
              </a:ext>
            </a:extLst>
          </p:cNvPr>
          <p:cNvSpPr txBox="1"/>
          <p:nvPr/>
        </p:nvSpPr>
        <p:spPr>
          <a:xfrm>
            <a:off x="889000" y="571500"/>
            <a:ext cx="1016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F28C28"/>
                </a:solidFill>
                <a:latin typeface="Segoe UI" panose="020B0502040204020203" pitchFamily="34" charset="0"/>
              </a:rPr>
              <a:t>CONCLUSION AND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BDBE4-F84C-E6A7-5058-19F734FB7CDB}"/>
              </a:ext>
            </a:extLst>
          </p:cNvPr>
          <p:cNvSpPr txBox="1"/>
          <p:nvPr/>
        </p:nvSpPr>
        <p:spPr>
          <a:xfrm>
            <a:off x="889000" y="9525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</a:rPr>
              <a:t>Conclusion and Future Research Directions</a:t>
            </a:r>
            <a:endParaRPr lang="en-IN" sz="2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A7AEF8-4CAA-892D-7461-F5BEE1A21697}"/>
              </a:ext>
            </a:extLst>
          </p:cNvPr>
          <p:cNvSpPr/>
          <p:nvPr/>
        </p:nvSpPr>
        <p:spPr>
          <a:xfrm>
            <a:off x="889000" y="1778000"/>
            <a:ext cx="5016500" cy="4191000"/>
          </a:xfrm>
          <a:prstGeom prst="rect">
            <a:avLst/>
          </a:prstGeom>
          <a:solidFill>
            <a:srgbClr val="424A36"/>
          </a:solidFill>
          <a:ln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ACB17-0752-5885-7039-0A3168F2CC60}"/>
              </a:ext>
            </a:extLst>
          </p:cNvPr>
          <p:cNvSpPr txBox="1"/>
          <p:nvPr/>
        </p:nvSpPr>
        <p:spPr>
          <a:xfrm>
            <a:off x="1079500" y="1968500"/>
            <a:ext cx="4635500" cy="18620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150">
                <a:solidFill>
                  <a:srgbClr val="EAEAEA"/>
                </a:solidFill>
                <a:latin typeface="Segoe UI" panose="020B0502040204020203" pitchFamily="34" charset="0"/>
              </a:rPr>
              <a:t>Future Research Extensions:
* IoT Smart Cold-Chain: Integration of BLE temperature and humidity sensors in volunteer transit containers.
* Machine Learning Demand Forecasting: Predictive analytics anticipating weekend surplus peaks from commercial banquets.
* Progressive Web App (PWA): Offline-first volunteer dispatch capabilities with background sync.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F0C91C-3E28-82EA-1417-58E16EC68B1B}"/>
              </a:ext>
            </a:extLst>
          </p:cNvPr>
          <p:cNvSpPr/>
          <p:nvPr/>
        </p:nvSpPr>
        <p:spPr>
          <a:xfrm>
            <a:off x="6286500" y="1778000"/>
            <a:ext cx="5016500" cy="4191000"/>
          </a:xfrm>
          <a:prstGeom prst="rect">
            <a:avLst/>
          </a:prstGeom>
          <a:solidFill>
            <a:srgbClr val="424A36"/>
          </a:solidFill>
          <a:ln>
            <a:solidFill>
              <a:srgbClr val="176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C8731-2F60-023C-E124-7CA045A0BBE0}"/>
              </a:ext>
            </a:extLst>
          </p:cNvPr>
          <p:cNvSpPr txBox="1"/>
          <p:nvPr/>
        </p:nvSpPr>
        <p:spPr>
          <a:xfrm>
            <a:off x="6477000" y="1968500"/>
            <a:ext cx="4635500" cy="23929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150">
                <a:solidFill>
                  <a:srgbClr val="EAEAEA"/>
                </a:solidFill>
                <a:latin typeface="Segoe UI" panose="020B0502040204020203" pitchFamily="34" charset="0"/>
              </a:rPr>
              <a:t>Project Conclusion:
* AnnPath successfully bridges the humanitarian divide between commercial food surplus and acute urban hunger.
* The deterministic Rescue Priority Score (RPS) eliminates subjective triage delays.
* Cryptographic chain-of-custody verification restores donor confidence and corporate participation.
* Delivered as a lightweight, production-ready enterprise package with zero framework bloat.</a:t>
            </a:r>
          </a:p>
        </p:txBody>
      </p:sp>
    </p:spTree>
    <p:extLst>
      <p:ext uri="{BB962C8B-B14F-4D97-AF65-F5344CB8AC3E}">
        <p14:creationId xmlns:p14="http://schemas.microsoft.com/office/powerpoint/2010/main" val="276646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3021</Words>
  <Application>Microsoft Office PowerPoint</Application>
  <PresentationFormat>Custom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Shehra</dc:creator>
  <cp:lastModifiedBy>Ashutosh Shehra</cp:lastModifiedBy>
  <cp:revision>1</cp:revision>
  <dcterms:created xsi:type="dcterms:W3CDTF">2026-09-20T10:10:44Z</dcterms:created>
  <dcterms:modified xsi:type="dcterms:W3CDTF">2026-09-20T10:10:44Z</dcterms:modified>
</cp:coreProperties>
</file>